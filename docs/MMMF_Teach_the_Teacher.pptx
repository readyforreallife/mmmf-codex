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828800" cy="18288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READY FOR REAL LIFE INSTRUCTION AND EDUCATION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the Teacher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Program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3017520"/>
            <a:ext cx="411480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3-Day Intensive · All Educator Tracks · Grades 7–12 &amp; Community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Facilitator: Michael R. Terry  ·  readyforreal.life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Founder  ·  Curriculum Designer  ·  Kappa Delta 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B3C"/>
                </a:solidFill>
              </a:rPr>
              <a:t>TRAINING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Learn to Teach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B84B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Philosophy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194560"/>
            <a:ext cx="100584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Vision, theory, frameworks &amp; standards alignment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291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B84B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Deep Dive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23360" y="2194560"/>
            <a:ext cx="100584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3317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 5 modules, spiral design, pacing &amp; differentiation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11E35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Facilitation &amp; Assessment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49440" y="2194560"/>
            <a:ext cx="1005840" cy="36576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3317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E35"/>
                </a:solidFill>
              </a:rPr>
              <a:t>Delivery practice, rubrics, scenario simulation &amp; readiness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All tracks covered: Grades 7–8 · Grades 9–12 · Community Youth · Community Adult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B3C"/>
                </a:solidFill>
              </a:rPr>
              <a:t>MEET YOUR CURRICULUM DESIGNER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0" cy="3657600"/>
          </a:xfrm>
          <a:prstGeom prst="rect">
            <a:avLst/>
          </a:prstGeom>
          <a:solidFill>
            <a:srgbClr val="111E35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 R. Terry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Founder, MMMF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🚔  Founder and Curriculum Designer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04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🎓  Master of Arts in Teaching — Columbia College of Missouri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52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📚  Kappa Delta Pi (KDP) Member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✍️   Published Author: Still. Small. Daily.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472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🏫  Former SRO, Blue Peak High School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🌐  Spanish Proficient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142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🏆  Dr. MLK Jr. Community Service Award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005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18+ Years of Real Experience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23360" y="1783080"/>
            <a:ext cx="4846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06240" y="1828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Law enforcement and crisis response in every module.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2532888"/>
            <a:ext cx="4846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578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SRO experience shaped real-world student scenarios.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3282696"/>
            <a:ext cx="4846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06240" y="33284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Graduate research applied to every design decision.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4032504"/>
            <a:ext cx="4846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0" y="407822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Community outreach informing cultural responsiveness.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WHY THIS CURRICULUM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Gap &amp; The Response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6974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The Unaddressed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2331720"/>
            <a:ext cx="6858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450592"/>
            <a:ext cx="24780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Academic achievement dominates curricula. Students navigate complex social, digital, and emotional landscapes with few tools. Soft skills are assumed — not taught. This course makes them explicit and measurable.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0120"/>
            <a:ext cx="269748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The Design Standard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2331720"/>
            <a:ext cx="6858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450592"/>
            <a:ext cx="24780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Transfer, not coverage. Students leave able to apply concepts independently to unfamiliar, high-stakes situations. Every lesson, framework, and assessment is designed backward from that single outcome.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60120"/>
            <a:ext cx="269748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Your Role as Educator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2331720"/>
            <a:ext cx="685800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450592"/>
            <a:ext cx="24780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You are the bridge between this curriculum and your students. Today's training gives you the philosophy, tools, and practice reps to deliver MMMF with confidence across all implementation tracks.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CURRICULUM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Core Pillars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05740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0574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Respectful Communication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Tone &amp; body language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Active listening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I-statements &amp; repair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Authority response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04872" y="960120"/>
            <a:ext cx="205740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04872" y="960120"/>
            <a:ext cx="20574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4872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04872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96312" y="2011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Emotional Regulation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Trigger identification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Pause–Label–Reframe–Respond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Peer pressure 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Mindfulness basics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960120"/>
            <a:ext cx="205740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960120"/>
            <a:ext cx="20574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26864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18304" y="2011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Decision-Making Under Pressure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36592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Pause–Options–Consequences–Choose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36592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Consequence mapping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Short vs. long-term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Digital permanence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48856" y="960120"/>
            <a:ext cx="205740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48856" y="960120"/>
            <a:ext cx="205740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848856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40296" y="2011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Accountability &amp; Repair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58584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Own it, fix it, follow through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58584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Integrity &amp; trust-building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58584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Self-assessment cycles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58584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· Personal growth targets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CONTENT STRANDS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Five Modules — One Cohesive Program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" y="96012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960120"/>
            <a:ext cx="1664208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978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" y="1325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Modern Manners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566928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542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Eye contact &amp; greetings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Cell phone etiquette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Gratitude practices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Context-appropriate behavior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83664" y="96012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83664" y="960120"/>
            <a:ext cx="1664208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3664" y="978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83664" y="1325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56816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Emotional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32304" y="2423160"/>
            <a:ext cx="566928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75104" y="2542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Self-awareness &amp; triggers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75104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Stress &amp; anxiety tools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75104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Mindfulness basics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75104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Regulation routines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96012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75888" y="960120"/>
            <a:ext cx="1664208" cy="32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5888" y="978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11E35"/>
                </a:solidFill>
              </a:rPr>
              <a:t>MOD 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75888" y="1325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🕊️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49040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Conflict Navigation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24528" y="2423160"/>
            <a:ext cx="566928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2542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Disagreement without disrespect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67328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Apologies &amp; repair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67328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Boundaries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67328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Peer mediation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68112" y="96012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68112" y="960120"/>
            <a:ext cx="1664208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978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 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68112" y="1325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541264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Digital Citizenship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16752" y="2423160"/>
            <a:ext cx="56692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2542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Online tone &amp; posting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59552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Digital permanence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59552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Reputation management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59552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Privacy &amp; boundaries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60336" y="96012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60336" y="960120"/>
            <a:ext cx="16642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0336" y="978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MOD 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0336" y="1325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333488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Personal Growth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08976" y="2423160"/>
            <a:ext cx="56692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51776" y="2542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Goal setting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51776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Self-assessment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351776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Integrity &amp; follow-through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51776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Capstone project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STUDENT-FACING THINKING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Two Core Frameworks — Know These Cold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🧘  Regulation Routine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Self-regulation under stress — used BEFORE decision-making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45720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</a:rPr>
              <a:t>PAUSE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Stop the automatic reaction. Create space.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24328"/>
            <a:ext cx="45720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</a:rPr>
              <a:t>LABEL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8712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Name the emotion. What am I actually feeling?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82696"/>
            <a:ext cx="45720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3284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</a:rPr>
              <a:t>REFRAME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Shift perspective. What is actually happening?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941064"/>
            <a:ext cx="45720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986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</a:rPr>
              <a:t>RESPOND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187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Choose deliberately — aligned with 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111E35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⚖️  Decision-Making Framework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5E7EB"/>
                </a:solidFill>
              </a:rPr>
              <a:t>Structured choice-making under pressure &amp; competing priorities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1965960"/>
            <a:ext cx="457200" cy="5029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P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40680" y="2011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B3C"/>
                </a:solidFill>
              </a:rPr>
              <a:t>PAUSE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2212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Regulate first. Good decisions require cognitive space.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624328"/>
            <a:ext cx="457200" cy="5029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2670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B3C"/>
                </a:solidFill>
              </a:rPr>
              <a:t>OPTIONS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8712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Identify multiple possible responses.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282696"/>
            <a:ext cx="457200" cy="5029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C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40680" y="33284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B3C"/>
                </a:solidFill>
              </a:rPr>
              <a:t>CONSEQUENCES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Evaluate short and long-term outcomes.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3941064"/>
            <a:ext cx="457200" cy="5029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E35"/>
                </a:solidFill>
              </a:rPr>
              <a:t>C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440680" y="3986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B3C"/>
                </a:solidFill>
              </a:rPr>
              <a:t>CHOOSE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4187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Select a response and justify it. Explain the reasoning.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WHO YOU WILL TEACH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Four Implementation Tracks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057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0574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784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50876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Grades 7–8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201168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A4A"/>
                </a:solidFill>
              </a:rPr>
              <a:t>Foundational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B2A4A"/>
                </a:solidFill>
              </a:rPr>
              <a:t>Introductory Level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777240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670048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1 term per year. Core concepts introduced. Lower complexity scenarios. Building shared vocabulary.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4872" y="960120"/>
            <a:ext cx="2057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4872" y="960120"/>
            <a:ext cx="20574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9784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78024" y="150876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Grades 9–12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78024" y="201168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7377"/>
                </a:solidFill>
              </a:rPr>
              <a:t>Leveling 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D7377"/>
                </a:solidFill>
              </a:rPr>
              <a:t>Annually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44952" y="2560320"/>
            <a:ext cx="7772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670048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1 term per year. Complexity increases each grade. Spiral design ensures no content repeated at same level.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26864" y="960120"/>
            <a:ext cx="2057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960120"/>
            <a:ext cx="20574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9784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00016" y="150876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Community Youth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201168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Outside School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Youth Program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66944" y="2560320"/>
            <a:ext cx="777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670048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Flexible delivery. Cohort-based. Adapts MMMF for community centers, faith orgs, and youth programs.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48856" y="960120"/>
            <a:ext cx="2057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960120"/>
            <a:ext cx="20574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9784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22008" y="150876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5"/>
                </a:solidFill>
              </a:rPr>
              <a:t>Community Adult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22008" y="2011680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Outside School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Adult Program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88936" y="2560320"/>
            <a:ext cx="7772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58584" y="2670048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Workplace, family, and personal growth contexts. Same frameworks, adult-relevant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CURRICULUM STRUCTURE · BRUNER (1960)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Spiral Design — How It Builds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56032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</a:rPr>
              <a:t>Weeks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Mini-lessons, case studies, graphic organizers, instructor modeling. Shared vocabulary.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56032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B3C"/>
                </a:solidFill>
              </a:rPr>
              <a:t>Week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ROLE-PLAY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Apply skills in structured practice. Scenario prompts build fluency before independent use.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56032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</a:rPr>
              <a:t>Week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Team-based tasks + reflection journals. Connects experience to concept.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2148840"/>
            <a:ext cx="164592" cy="4572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148840"/>
            <a:ext cx="164592" cy="4572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All Four Pillars Revisited Every Cycle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Respect, regulation, decision-making, and accountability reappear in every module at increasing levels of complexity — exactly as Bruner's spiral model intended. This is not repetition; it is mastery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ASSESSMENT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Learning Is Measured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0116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FORMATIVE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Weekly Journals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95728" y="10058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05840"/>
            <a:ext cx="20116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051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FORMATIVE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95728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Concept Sorting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08576" y="10058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05840"/>
            <a:ext cx="20116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051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FORMATIVE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8576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0016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Role-Play Rubrics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21424" y="10058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005840"/>
            <a:ext cx="20116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051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FORMATIVE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21424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12864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Pre/Post Surveys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29718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2971800"/>
            <a:ext cx="2011680" cy="32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11E35"/>
                </a:solidFill>
              </a:rPr>
              <a:t>SUMMATIVE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7432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"How I Handle It"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95728" y="29718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95728" y="2971800"/>
            <a:ext cx="20116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SUMMATIVE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95728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487168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E35"/>
                </a:solidFill>
              </a:rPr>
              <a:t>Novel Scenario Task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7377"/>
                </a:solidFill>
              </a:rPr>
              <a:t>DAY 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Curriculum Overview &amp; Philosophy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8:00–8:30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Welcome, Introductions &amp; Norms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987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Who is in the room — all tracks represented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447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8:30–9:30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00200" y="14447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Gap: Why MMMF Exists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444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Data, real-world context, Michael's 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019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9:30–10:30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1901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Theoretical Foundations Deep Dive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9019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Tyler, Bruner, Dewey, CASEL, Stern et 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40864"/>
            <a:ext cx="8595360" cy="347472"/>
          </a:xfrm>
          <a:prstGeom prst="rect">
            <a:avLst/>
          </a:prstGeom>
          <a:solidFill>
            <a:srgbClr val="172B47"/>
          </a:solidFill>
          <a:ln w="12700">
            <a:solidFill>
              <a:srgbClr val="172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591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10:30–10:45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2359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Break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163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10:45–12:00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28163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Four Core Pillars Walk-Through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8163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Paired discussion: which pillar resonates most?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8595360" cy="347472"/>
          </a:xfrm>
          <a:prstGeom prst="rect">
            <a:avLst/>
          </a:prstGeom>
          <a:solidFill>
            <a:srgbClr val="172B47"/>
          </a:solidFill>
          <a:ln w="12700">
            <a:solidFill>
              <a:srgbClr val="172B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73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12:00–1:00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63040" y="3273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Lunch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124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307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1:00–2:30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00200" y="37307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Standards Alignment Workshop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3730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Utah CASEL &amp; CCA Core Standards mapping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1696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1879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2:30–3:30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00200" y="4187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Differentiation Overview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41879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Gr. 7–8 vs 9–12 vs Community — key differences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626864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6451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3:30–4:00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00200" y="46451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 Reflection &amp; Q&amp;A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46451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Reflection prompt: What surprised you most?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DAY 2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Module-by-Module Deep Dive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8:00–8:15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 Debrief &amp; Warm-Up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9875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Quick pair share from yesterday's reflection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385316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360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8:15–9:15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00200" y="14036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1: Modern Manners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4036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Hands-on: practice greeting, cell phone, gratitude activities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01368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196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9:15–10:15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18196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2: Emotional Intelligence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81965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PLRR framework practice — in-role scenarios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17420"/>
            <a:ext cx="8595360" cy="329184"/>
          </a:xfrm>
          <a:prstGeom prst="rect">
            <a:avLst/>
          </a:prstGeom>
          <a:solidFill>
            <a:srgbClr val="172B47"/>
          </a:solidFill>
          <a:ln w="12700">
            <a:solidFill>
              <a:srgbClr val="172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357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10:15–10:30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22357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Break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33472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5176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10:30–11:30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26517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3: Conflict Navigation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Live role-play with peer mediation debrief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49524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6781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11:30–12:00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00200" y="30678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4: Digital Citizenship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0678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Digital permanence simulation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65576"/>
            <a:ext cx="8595360" cy="329184"/>
          </a:xfrm>
          <a:prstGeom prst="rect">
            <a:avLst/>
          </a:prstGeom>
          <a:solidFill>
            <a:srgbClr val="172B47"/>
          </a:solidFill>
          <a:ln w="12700">
            <a:solidFill>
              <a:srgbClr val="172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4838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12:00–1:00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63040" y="34838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Lunch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881628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89991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1:00–2:00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00200" y="389991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5: Personal Growth &amp; Capstone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38999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Walk-through capstone design and rubric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159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2:00–3:15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00200" y="43159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Pacing &amp; Differentiation Workshop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43159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Adapt each module for your specific track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713732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320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3:15–4:00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00200" y="47320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 Reflection &amp; Planning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60720" y="47320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Begin your track-specific pacing plan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</a:rPr>
              <a:t>DAY 3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Facilitation Practice &amp; Assessment Training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8:00–8:15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 Debrief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9875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Share your pacing plan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385316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360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8:15–9:30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00200" y="14036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Facilitation Micro-Teaching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4036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10-min teach-back each: feedback from peers + facilitator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01368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196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9:30–10:30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18196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 Simulation Lab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81965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Live student scenarios — practice regulation &amp; decision frameworks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17420"/>
            <a:ext cx="8595360" cy="329184"/>
          </a:xfrm>
          <a:prstGeom prst="rect">
            <a:avLst/>
          </a:prstGeom>
          <a:solidFill>
            <a:srgbClr val="172B47"/>
          </a:solidFill>
          <a:ln w="12700">
            <a:solidFill>
              <a:srgbClr val="172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357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10:30–10:45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22357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Break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33472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5176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10:45–12:00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26517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Assessment Deep Dive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Capstone rubric, novel scenario design, CASEL surveys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49524"/>
            <a:ext cx="8595360" cy="329184"/>
          </a:xfrm>
          <a:prstGeom prst="rect">
            <a:avLst/>
          </a:prstGeom>
          <a:solidFill>
            <a:srgbClr val="172B47"/>
          </a:solidFill>
          <a:ln w="12700">
            <a:solidFill>
              <a:srgbClr val="172B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678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12:00–1:00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63040" y="30678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Lunch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465576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8386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1:00–2:00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00200" y="34838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Track-Specific Q&amp;A Roundtables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348386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Breakout by track: Gr 7–8 / 9–12 / Community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881628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89991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2:00–3:00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00200" y="389991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Readiness Self-Assessment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38999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Complete Teacher Readiness Checklist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159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3:00–3:45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00200" y="43159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Certification &amp; Commitment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43159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MMMF Licensed Facilitator — sign &amp; receive materials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713732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320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3:45–4:00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00200" y="47320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Closing Reflection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60720" y="47320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E7EB"/>
                </a:solidFill>
              </a:rPr>
              <a:t>What will you do differently in your classroom next week?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SUMMATIVE RUBRIC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Capstone: "How I Handle It"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Criteria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960120"/>
            <a:ext cx="22860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9875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Exceeds (10)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2011680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E35"/>
                </a:solidFill>
              </a:rPr>
              <a:t>Meets (8)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9400" y="960120"/>
            <a:ext cx="22860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9875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Needs Improvement (5)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444752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490472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E35"/>
                </a:solidFill>
              </a:rPr>
              <a:t>Clarity of Scenario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1444752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149047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Clear, relatable, real-world grounded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444752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490472"/>
            <a:ext cx="1883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Relevant &amp; understandable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1444752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49047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Unclear or vague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12264"/>
            <a:ext cx="192024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157984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E35"/>
                </a:solidFill>
              </a:rPr>
              <a:t>Application of Strategies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40280" y="2112264"/>
            <a:ext cx="228600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4288" y="2157984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Mastery with nuanced, layered application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112264"/>
            <a:ext cx="201168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157984"/>
            <a:ext cx="1883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Applies most tools correctly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112264"/>
            <a:ext cx="228600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2157984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Few or incorrect applications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779776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2825496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E35"/>
                </a:solidFill>
              </a:rPr>
              <a:t>Self-Reflection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0280" y="2779776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2825496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Insightful, honest, genuine growth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779776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2825496"/>
            <a:ext cx="1883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Basic reflection shown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2779776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2825496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Minimal or shallow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47288"/>
            <a:ext cx="192024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3493008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E35"/>
                </a:solidFill>
              </a:rPr>
              <a:t>Delivery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40280" y="3447288"/>
            <a:ext cx="228600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04288" y="34930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Confident, clear, engaging throughout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447288"/>
            <a:ext cx="201168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3493008"/>
            <a:ext cx="1883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Clear with minor issues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3447288"/>
            <a:ext cx="2286000" cy="603504"/>
          </a:xfrm>
          <a:prstGeom prst="rect">
            <a:avLst/>
          </a:prstGeom>
          <a:solidFill>
            <a:srgbClr val="F0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34930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Unclear or hard to follow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114800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" y="4160520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E35"/>
                </a:solidFill>
              </a:rPr>
              <a:t>Visual/Support Materials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0280" y="4114800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04288" y="4160520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Effective, polished, enhances presentation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114800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4160520"/>
            <a:ext cx="1883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Basic visuals included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9400" y="4114800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4160520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E35"/>
                </a:solidFill>
              </a:rPr>
              <a:t>Missing or ineffective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READY FOR REAL LIFE INSTRUCTION AND EDUCATION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Ready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Teach This.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474720" y="2606040"/>
            <a:ext cx="219456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8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E7EB"/>
                </a:solidFill>
              </a:rPr>
              <a:t>"Transfer, not coverage. Students leave able to apply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5E7EB"/>
                </a:solidFill>
              </a:rPr>
              <a:t>concepts independently to unfamiliar, high-stakes situations."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readyforreal.life  ·  Founders, Ready for Real Life Instruction and Education | MMMF LLC  ·  readyforreal.life44@gmail.com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© Michael R. Terry. Protected intellectual property.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MMMF — Teach the Teacher Training</dc:title>
  <dc:subject>PptxGenJS Presentation</dc:subject>
  <dc:creator>Michael R. Terry</dc:creator>
  <cp:lastModifiedBy>Michael R. Terry</cp:lastModifiedBy>
  <cp:revision>1</cp:revision>
  <dcterms:created xsi:type="dcterms:W3CDTF">2026-03-20T15:28:01Z</dcterms:created>
  <dcterms:modified xsi:type="dcterms:W3CDTF">2026-03-20T15:28:01Z</dcterms:modified>
</cp:coreProperties>
</file>