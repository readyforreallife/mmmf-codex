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926080"/>
            <a:ext cx="1828800" cy="182880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READY FOR REAL LIFE INSTRUCTION AND EDUCATION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 the Teacher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1148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Program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11480" y="3017520"/>
            <a:ext cx="4114800" cy="36576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3-Day Intensive · All Educator Tracks · Grades 7–12 &amp; Community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3703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Facilitator: Michael R. Terry  ·  readyforreal.life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4023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Founder  ·  Curriculum Designer  ·  Kappa Delta 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B3C"/>
                </a:solidFill>
              </a:rPr>
              <a:t>TRAINING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You Will Learn to Teach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651760" cy="3291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8B84B"/>
                </a:solidFill>
              </a:rPr>
              <a:t>DAY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Philosophy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97280" y="2194560"/>
            <a:ext cx="100584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Vision, theory, frameworks &amp; standards alignment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291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8B84B"/>
                </a:solidFill>
              </a:rPr>
              <a:t>DAY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Deep Dive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23360" y="2194560"/>
            <a:ext cx="100584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All 5 modules, spiral design, pacing &amp; differentiation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2651760" cy="32918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111E35"/>
                </a:solidFill>
              </a:rPr>
              <a:t>DAY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E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Facilitation &amp; Assessment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94560"/>
            <a:ext cx="1005840" cy="36576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E35"/>
                </a:solidFill>
              </a:rPr>
              <a:t>Delivery practice, rubrics, scenario simulation &amp; readiness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All tracks covered: Grades 7–8 · Grades 9–12 · Community Youth · Community Adult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B3C"/>
                </a:solidFill>
              </a:rPr>
              <a:t>MEET YOUR CURRICULUM DESIGNER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3474720" cy="3657600"/>
          </a:xfrm>
          <a:prstGeom prst="rect">
            <a:avLst/>
          </a:prstGeom>
          <a:solidFill>
            <a:srgbClr val="111E35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972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Michael R. Terry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7EB"/>
                </a:solidFill>
              </a:rPr>
              <a:t>Founder, MMMF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🚔  Founder and Curriculum Designer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4048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🎓  Master of Arts in Teaching — Columbia College of Missouri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75234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📚  Kappa Delta Pi (KDP) Member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0998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✍️   Published Author: Still. Small. Daily.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4472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🏫  Former SRO, Blue Peak High School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🌐  Spanish Proficient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1422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🏆  Dr. MLK Jr. Community Service Award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0" y="10058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18+ Years of Real Experience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023360" y="1783080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06240" y="18288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Law enforcement and crisis response in every module.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23360" y="2532888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57860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SRO experience shaped real-world student scenarios.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3360" y="3282696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206240" y="3328416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Graduate research applied to every design decision.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23360" y="4032504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06240" y="4078224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Community outreach informing cultural responsiveness.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WHY THIS CURRICULUM EXISTS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Gap &amp; The Response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697480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🏫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The Unaddressed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34440" y="2331720"/>
            <a:ext cx="68580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Academic achievement dominates curricula. Students navigate complex social, digital, and emotional landscapes with few tools. Soft skills are assumed — not taught. This course makes them explicit and measurable.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960120"/>
            <a:ext cx="2697480" cy="91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4612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The Design Standard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60520" y="2331720"/>
            <a:ext cx="6858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Transfer, not coverage. Students leave able to apply concepts independently to unfamiliar, high-stakes situations. Every lesson, framework, and assessment is designed backward from that single outcome.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960120"/>
            <a:ext cx="2697480" cy="91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17220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Your Role as Educator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86600" y="2331720"/>
            <a:ext cx="685800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048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You are the bridge between this curriculum and your students. Today's training gives you the philosophy, tools, and practice reps to deliver MMMF with confidence across all implementation tracks.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CURRICULUM FOUNDATION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Core Pillars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20574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73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Respectful Communication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Tone &amp; body language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2608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Active listening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I-statements &amp; repair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2608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Authority response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04872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04872" y="960120"/>
            <a:ext cx="2057400" cy="73152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04872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04872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🧘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96312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Emotional Regulation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14600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Trigger identification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14600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Pause–Label–Reframe–Respond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14600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Peer pressure tools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Mindfulness basics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26864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26864" y="960120"/>
            <a:ext cx="20574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626864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Decision-Making Under Pressure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36592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Pause–Options–Consequences–Choose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Consequence mapping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36592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Short vs. long-term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Digital permanence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48856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48856" y="960120"/>
            <a:ext cx="20574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848856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940296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Accountability &amp; Repair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58584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Own it, fix it, follow through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58584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Integrity &amp; trust-building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58584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Self-assessment cycles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58584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Personal growth targets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CONTENT STRANDS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Five Modules — One Cohesive Program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" y="960120"/>
            <a:ext cx="1664208" cy="320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🎩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Modern Manners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566928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Eye contact &amp; greetings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Cell phone etiquette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2880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Gratitude practices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Context-appropriate behavior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83664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883664" y="960120"/>
            <a:ext cx="1664208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83664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956816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Emotional Intelligence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32304" y="2423160"/>
            <a:ext cx="566928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75104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Self-awareness &amp; triggers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975104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Stress &amp; anxiety tools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75104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Mindfulness basics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975104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Regulation routines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75888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75888" y="960120"/>
            <a:ext cx="1664208" cy="3200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11E35"/>
                </a:solidFill>
              </a:rPr>
              <a:t>MOD 03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75888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🕊️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749040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Conflict Navigation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24528" y="2423160"/>
            <a:ext cx="566928" cy="36576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Disagreement without disrespect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767328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Apologies &amp; repair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767328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Boundaries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767328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Peer mediation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68112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68112" y="960120"/>
            <a:ext cx="1664208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68112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68112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541264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Digital Citizenship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016752" y="2423160"/>
            <a:ext cx="566928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Online tone &amp; posting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59552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Digital permanence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59552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Reputation management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559552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Privacy &amp; boundaries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60336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60336" y="960120"/>
            <a:ext cx="16642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60336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60336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7333488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Personal Growth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808976" y="2423160"/>
            <a:ext cx="566928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51776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Goal setting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351776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Self-assessment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351776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Integrity &amp; follow-through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351776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Capstone project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STUDENT-FACING THINKING TOOLS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Two Core Frameworks — Know These Cold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3840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🧘  Regulation Routine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</a:rPr>
              <a:t>Self-regulation under stress — used BEFORE decision-making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1965960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PAUSE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2128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Stop the automatic reaction. Create space.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24328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67004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LABEL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Name the emotion. What am I actually feeling?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82696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332841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REFRAME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5295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Shift perspective. What is actually happening?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3941064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398678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RESPOND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41879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Choose deliberately — aligned with values.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4023360" cy="3840480"/>
          </a:xfrm>
          <a:prstGeom prst="rect">
            <a:avLst/>
          </a:prstGeom>
          <a:solidFill>
            <a:srgbClr val="111E35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⚖️  Decision-Making Framework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46320" y="14630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5E7EB"/>
                </a:solidFill>
              </a:rPr>
              <a:t>Structured choice-making under pressure &amp; competing priorities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92040" y="1965960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P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40680" y="20116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PAUSE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40680" y="22128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Regulate first. Good decisions require cognitive space.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92040" y="2624328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O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440680" y="26700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OPTIONS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40680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Identify multiple possible responses.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3282696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C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440680" y="332841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CONSEQUENCES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40680" y="35295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Evaluate short and long-term outcomes.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92040" y="3941064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C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440680" y="39867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CHOOSE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40680" y="41879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Select a response and justify it. Explain the reasoning.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WHO YOU WILL TEACH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Implementation Tracks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205740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🏫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6032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Grades 7–8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</a:rPr>
              <a:t>Foundational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</a:rPr>
              <a:t>Introductory Level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777240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 term per year. Core concepts introduced. Lower complexity scenarios. Building shared vocabulary.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04872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04872" y="960120"/>
            <a:ext cx="2057400" cy="5029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4872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🎓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78024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Grades 9–12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78024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D7377"/>
                </a:solidFill>
              </a:rPr>
              <a:t>Leveling 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D7377"/>
                </a:solidFill>
              </a:rPr>
              <a:t>Annually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44952" y="2560320"/>
            <a:ext cx="7772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14600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 term per year. Complexity increases each grade. Spiral design ensures no content repeated at same level.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26864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960120"/>
            <a:ext cx="20574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👦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0016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Community Youth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00016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</a:rPr>
              <a:t>Outside School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</a:rPr>
              <a:t>Youth Program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66944" y="2560320"/>
            <a:ext cx="77724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Flexible delivery. Cohort-based. Adapts MMMF for community centers, faith orgs, and youth programs.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48856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960120"/>
            <a:ext cx="20574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48856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22008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Community Adult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22008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Outside School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Adult Program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88936" y="2560320"/>
            <a:ext cx="77724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58584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Workplace, family, and personal growth contexts. Same frameworks, adult-relevant scenarios.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CURRICULUM STRUCTURE · BRUNER (1960)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Spiral Design — How It Builds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</a:rPr>
              <a:t>Weeks 1–2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Mini-lessons, case studies, graphic organizers, instructor modeling. Shared vocabulary.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B3C"/>
                </a:solidFill>
              </a:rPr>
              <a:t>Week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ROLE-PLAY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Apply skills in structured practice. Scenario prompts build fluency before independent use.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</a:rPr>
              <a:t>Week 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2648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Team-based tasks + reflection journals. Connects experience to concept.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71800" y="2148840"/>
            <a:ext cx="164592" cy="4572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2148840"/>
            <a:ext cx="164592" cy="4572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 Four Pillars Revisited Every Cycle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Respect, regulation, decision-making, and accountability reappear in every module at increasing levels of complexity — exactly as Bruner's spiral model intended. This is not repetition; it is mastery by design.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ASSESSMENT FRAMEWORK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Learning Is Measured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2880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Weekly Journals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95728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95728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5728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95728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487168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Concept Sorting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08576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08576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8576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608576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700016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Role-Play Rubrics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21424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21424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424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21424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912864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Pre/Post Surveys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" y="297180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82880" y="2971800"/>
            <a:ext cx="2011680" cy="3200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" y="30175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11E35"/>
                </a:solidFill>
              </a:rPr>
              <a:t>SUMMATIVE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82880" y="3337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274320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"How I Handle It"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95728" y="297180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395728" y="2971800"/>
            <a:ext cx="2011680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95728" y="30175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SUMMATIVE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395728" y="3337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2487168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Novel Scenario Task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7377"/>
                </a:solidFill>
              </a:rPr>
              <a:t>DAY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Curriculum Overview &amp; Philosophy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8:00–8:30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Welcome, Introductions &amp; Norms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Who is in the room — all tracks represented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4264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447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8:30–9:30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447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Gap: Why MMMF Exists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447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Data, real-world context, Michael's story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836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9019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9:30–10:30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9019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Theoretical Foundations Deep Dive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9019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Tyler, Bruner, Dewey, CASEL, Stern et 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340864"/>
            <a:ext cx="8595360" cy="347472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591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10:30–10:45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3591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163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10:45–12:00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8163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Four Core Pillars Walk-Through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8163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Paired discussion: which pillar resonates most?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255264"/>
            <a:ext cx="8595360" cy="347472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2735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2735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7124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7307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1:00–2:30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00200" y="37307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Standards Alignment Workshop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37307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Utah CASEL &amp; CCA Core Standards mapping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1696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1879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2:30–3:30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41879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Track Differentiation Overview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41879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Gr. 7–8 vs 9–12 vs Community — key differences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268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6451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3:30–4:00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6451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 Reflection &amp; Q&amp;A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6451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Reflection prompt: What surprised you most?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DAY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Module-by-Module Deep Dive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8:00–8:15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 Debrief &amp; Warm-Up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Quick pair share from yesterday's reflection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38531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036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8:15–9:15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036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1: Modern Manners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036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Hands-on: practice greeting, cell phone, gratitude activities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0136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8196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9:15–10:15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81965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2: Emotional Intelligence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8196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PLRR framework practice — in-role scenarios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17420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357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10:15–10:30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2357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63347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517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10:30–11:30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6517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3: Conflict Navigation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6517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Live role-play with peer mediation debrief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04952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6781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11:30–12:00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600200" y="306781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4: Digital Citizenship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306781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Digital permanence simulation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465576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4838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463040" y="34838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388162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89991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1:00–2:00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389991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5: Personal Growth &amp; Capstone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38999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Walk-through capstone design and rubric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3159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2:00–3:15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31596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Pacing &amp; Differentiation Workshop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3159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Adapt each module for your specific track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71373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7320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3:15–4:00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600200" y="47320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 Reflection &amp; Planning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760720" y="47320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Begin your track-specific pacing plan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0392B"/>
                </a:solidFill>
              </a:rPr>
              <a:t>DAY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Facilitation Practice &amp; Assessment Training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8:00–8:15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 Debrief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Share your pacing plan draft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38531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036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8:15–9:30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036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Facilitation Micro-Teaching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036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10-min teach-back each: feedback from peers + facilitator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0136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8196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9:30–10:30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81965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Scenario Simulation Lab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8196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Live student scenarios — practice regulation &amp; decision frameworks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17420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357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10:30–10:45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2357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63347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517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10:45–12:00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6517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Assessment Deep Dive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6517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Capstone rubric, novel scenario design, CASEL surveys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049524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678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0678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46557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48386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00200" y="348386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Track-Specific Q&amp;A Roundtables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348386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Breakout by track: Gr 7–8 / 9–12 / Community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388162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89991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2:00–3:00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389991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Readiness Self-Assessment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38999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Complete Teacher Readiness Checklist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3159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3:00–3:45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31596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Certification &amp; Commitment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3159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MMMF Licensed Facilitator — sign &amp; receive materials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71373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7320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3:45–4:00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600200" y="47320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Closing Reflection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760720" y="47320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What will you do differently in your classroom next week?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SUMMATIVE RUBRIC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Capstone: "How I Handle It"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92024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875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Criteria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960120"/>
            <a:ext cx="2286000" cy="411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9875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Exceeds (10)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960120"/>
            <a:ext cx="2011680" cy="41148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9875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Meets (8)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9400" y="960120"/>
            <a:ext cx="228600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9875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Needs Improvement (5)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444752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149047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Clarity of Scenario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1444752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04288" y="1490472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Clear, relatable, real-world grounded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1444752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1490472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Relevant &amp; understandable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9400" y="1444752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1490472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Unclear or vague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112264"/>
            <a:ext cx="192024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5798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Application of Strategies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2112264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04288" y="2157984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Mastery with nuanced, layered application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2112264"/>
            <a:ext cx="201168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2157984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Applies most tools correctly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29400" y="2112264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93408" y="2157984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Few or incorrect applications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2779776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282549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Self-Reflection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40280" y="2779776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04288" y="2825496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Insightful, honest, genuine growth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0" y="2779776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36008" y="2825496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Basic reflection shown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29400" y="2779776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2825496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Minimal or shallow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" y="3447288"/>
            <a:ext cx="192024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493008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Delivery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240280" y="3447288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04288" y="3493008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Confident, clear, engaging throughout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447288"/>
            <a:ext cx="201168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36008" y="3493008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Clear with minor issues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629400" y="3447288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93408" y="3493008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Unclear or hard to follow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114800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" y="4160520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Visual/Support Materials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240280" y="4114800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04288" y="4160520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Effective, polished, enhances presentation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114800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36008" y="4160520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Basic visuals included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629400" y="4114800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93408" y="4160520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Missing or ineffective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READY FOR REAL LIFE INSTRUCTION AND EDUCATION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05156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Are Ready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Teach This.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3474720" y="2606040"/>
            <a:ext cx="2194560" cy="54864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88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5E7EB"/>
                </a:solidFill>
              </a:rPr>
              <a:t>"Transfer, not coverage. Students leave able to apply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E5E7EB"/>
                </a:solidFill>
              </a:rPr>
              <a:t>concepts independently to unfamiliar, high-stakes situations."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readyforreal.life  ·  Founders, Ready for Real Life Instruction and Education | MMMF LLC  ·  readyforreal.life44@gmail.com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© Michael R. Terry. Protected intellectual property.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MMMF — Teach the Teacher Training</dc:title>
  <dc:subject>PptxGenJS Presentation</dc:subject>
  <dc:creator>Michael R. Terry</dc:creator>
  <cp:lastModifiedBy>Michael R. Terry</cp:lastModifiedBy>
  <cp:revision>1</cp:revision>
  <dcterms:created xsi:type="dcterms:W3CDTF">2026-03-20T15:28:01Z</dcterms:created>
  <dcterms:modified xsi:type="dcterms:W3CDTF">2026-03-20T15:28:01Z</dcterms:modified>
</cp:coreProperties>
</file>