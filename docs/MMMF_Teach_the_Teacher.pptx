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-731520"/>
            <a:ext cx="3200400" cy="320040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2926080"/>
            <a:ext cx="1828800" cy="182880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READY FOR REAL LIFE INSTRUCTION AND EDUCATION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 the Teacher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41148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Program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411480" y="3017520"/>
            <a:ext cx="4114800" cy="36576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3200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</a:rPr>
              <a:t>3-Day Intensive · All Educator Tracks · Grades 7–12 &amp; Community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3703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Facilitator: Michael R. Terry  ·  readyforreal.life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4023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Founder  ·  Curriculum Designer  ·  Kappa Delta Pi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89B3C"/>
                </a:solidFill>
              </a:rPr>
              <a:t>TRAINING OVERVIEW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What You Will Learn to Teach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651760" cy="3291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0972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E8B84B"/>
                </a:solidFill>
              </a:rPr>
              <a:t>DAY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Curriculum Philosophy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97280" y="2194560"/>
            <a:ext cx="1005840" cy="36576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33172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Vision, theory, frameworks &amp; standards alignment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1005840"/>
            <a:ext cx="2651760" cy="3291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00400" y="10972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E8B84B"/>
                </a:solidFill>
              </a:rPr>
              <a:t>DAY 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0040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Deep Dive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023360" y="2194560"/>
            <a:ext cx="1005840" cy="36576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233172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All 5 modules, spiral design, pacing &amp; differentiation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1005840"/>
            <a:ext cx="2651760" cy="329184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26480" y="10972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111E35"/>
                </a:solidFill>
              </a:rPr>
              <a:t>DAY 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2648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E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Facilitation &amp; Assessment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949440" y="2194560"/>
            <a:ext cx="1005840" cy="36576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233172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E35"/>
                </a:solidFill>
              </a:rPr>
              <a:t>Delivery practice, rubrics, scenario simulation &amp; readiness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4320" y="457200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All tracks covered: Grades 7–8 · Grades 9–12 · Community Youth · Community Adult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89B3C"/>
                </a:solidFill>
              </a:rPr>
              <a:t>MEET YOUR CURRICULUM DESIGNER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3474720" cy="3657600"/>
          </a:xfrm>
          <a:prstGeom prst="rect">
            <a:avLst/>
          </a:prstGeom>
          <a:solidFill>
            <a:srgbClr val="111E35"/>
          </a:solidFill>
          <a:ln w="12700">
            <a:solidFill>
              <a:srgbClr val="C89B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09728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9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Michael R. Terry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74320" y="16002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5E7EB"/>
                </a:solidFill>
              </a:rPr>
              <a:t>Founder, MMMF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057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🚔  Founder and Curriculum Designer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240487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🎓  Master of Arts in Teaching — Columbia College of Missouri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75234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📚  Kappa Delta Pi (KDP) Member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309981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✍️   Published Author: Still. Small. Daily.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34472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🏫  Former SRO, Blue Peak High School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794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🌐  Spanish Proficient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1422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🏆  Dr. MLK Jr. Community Service Award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023360" y="100584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From 18+ Years of Real Experience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023360" y="1783080"/>
            <a:ext cx="484632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06240" y="18288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</a:rPr>
              <a:t>Law enforcement and crisis response in every module.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023360" y="2532888"/>
            <a:ext cx="484632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578608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</a:rPr>
              <a:t>SRO experience shaped real-world student scenarios.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023360" y="3282696"/>
            <a:ext cx="484632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206240" y="3328416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</a:rPr>
              <a:t>Graduate research applied to every design decision.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023360" y="4032504"/>
            <a:ext cx="4846320" cy="6400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206240" y="4078224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</a:rPr>
              <a:t>Community outreach informing cultural responsiveness.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</a:rPr>
              <a:t>WHY THIS CURRICULUM EXISTS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Gap &amp; The Response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" y="960120"/>
            <a:ext cx="26974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960120"/>
            <a:ext cx="2697480" cy="914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109728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🏫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320040" y="1691640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E35"/>
                </a:solidFill>
              </a:rPr>
              <a:t>The Unaddressed Gap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234440" y="2331720"/>
            <a:ext cx="685800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2450592"/>
            <a:ext cx="247802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Academic achievement dominates curricula. Students navigate complex social, digital, and emotional landscapes with few tools. Soft skills are assumed — not taught. This course makes them explicit and measurable.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154680" y="960120"/>
            <a:ext cx="26974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960120"/>
            <a:ext cx="2697480" cy="914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4680" y="109728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⚖️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246120" y="1691640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E35"/>
                </a:solidFill>
              </a:rPr>
              <a:t>The Design Standard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60520" y="2331720"/>
            <a:ext cx="68580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64408" y="2450592"/>
            <a:ext cx="247802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Transfer, not coverage. Students leave able to apply concepts independently to unfamiliar, high-stakes situations. Every lesson, framework, and assessment is designed backward from that single outcome.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80760" y="960120"/>
            <a:ext cx="269748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80760" y="960120"/>
            <a:ext cx="2697480" cy="914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0760" y="109728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172200" y="1691640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E35"/>
                </a:solidFill>
              </a:rPr>
              <a:t>Your Role as Educator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086600" y="2331720"/>
            <a:ext cx="685800" cy="3657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90488" y="2450592"/>
            <a:ext cx="247802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You are the bridge between this curriculum and your students. Today's training gives you the philosophy, tools, and practice reps to deliver MMMF with confidence across all implementation tracks.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CURRICULUM FOUNDATION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 Core Pillars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82880" y="960120"/>
            <a:ext cx="2057400" cy="37947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7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960120"/>
            <a:ext cx="20574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10515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D73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" y="1508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🤝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74320" y="2011680"/>
            <a:ext cx="1874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Respectful Communication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92608" y="27889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Tone &amp; body language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2608" y="3063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Active listening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92608" y="33375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I-statements &amp; repair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2608" y="36118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Authority response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404872" y="960120"/>
            <a:ext cx="2057400" cy="37947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7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404872" y="960120"/>
            <a:ext cx="2057400" cy="73152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04872" y="10515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9B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404872" y="1508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🧘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496312" y="2011680"/>
            <a:ext cx="1874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Emotional Regulation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514600" y="27889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Trigger identification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514600" y="3063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Pause–Label–Reframe–Respond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514600" y="33375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Peer pressure tools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14600" y="36118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Mindfulness basics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26864" y="960120"/>
            <a:ext cx="2057400" cy="37947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7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26864" y="960120"/>
            <a:ext cx="205740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26864" y="10515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4626864" y="1508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718304" y="2011680"/>
            <a:ext cx="1874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Decision-Making Under Pressure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736592" y="27889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Pause–Options–Consequences–Choose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36592" y="3063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Consequence mapping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36592" y="33375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Short vs. long-term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736592" y="36118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Digital permanence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48856" y="960120"/>
            <a:ext cx="2057400" cy="37947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7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848856" y="960120"/>
            <a:ext cx="205740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48856" y="10515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6848856" y="150876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940296" y="2011680"/>
            <a:ext cx="1874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Accountability &amp; Repair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58584" y="27889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Own it, fix it, follow through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958584" y="3063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Integrity &amp; trust-building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958584" y="33375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Self-assessment cycles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958584" y="361188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· Personal growth targets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CONTENT STRANDS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Five Modules — One Cohesive Program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1440" y="960120"/>
            <a:ext cx="1664208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" y="960120"/>
            <a:ext cx="1664208" cy="3200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" y="978408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</a:rPr>
              <a:t>MOD 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" y="1325880"/>
            <a:ext cx="16642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🎩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" y="1828800"/>
            <a:ext cx="1517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Modern Manners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423160"/>
            <a:ext cx="566928" cy="3657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" y="254203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Eye contact &amp; greetings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82880" y="28346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Cell phone etiquette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82880" y="3127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Gratitude practices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82880" y="34198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Context-appropriate behavior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883664" y="960120"/>
            <a:ext cx="1664208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883664" y="960120"/>
            <a:ext cx="1664208" cy="3200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3664" y="978408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</a:rPr>
              <a:t>MOD 02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883664" y="1325880"/>
            <a:ext cx="16642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956816" y="1828800"/>
            <a:ext cx="1517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Emotional Intelligence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432304" y="2423160"/>
            <a:ext cx="566928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75104" y="254203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Self-awareness &amp; triggers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975104" y="28346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Stress &amp; anxiety tools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975104" y="3127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Mindfulness basics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975104" y="34198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Regulation routines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675888" y="960120"/>
            <a:ext cx="1664208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75888" y="960120"/>
            <a:ext cx="1664208" cy="32004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75888" y="978408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111E35"/>
                </a:solidFill>
              </a:rPr>
              <a:t>MOD 03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75888" y="1325880"/>
            <a:ext cx="16642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🕊️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3749040" y="1828800"/>
            <a:ext cx="1517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Conflict Navigation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224528" y="2423160"/>
            <a:ext cx="566928" cy="36576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67328" y="254203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Disagreement without disrespect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767328" y="28346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Apologies &amp; repair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767328" y="3127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Boundaries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767328" y="34198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Peer mediation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68112" y="960120"/>
            <a:ext cx="1664208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468112" y="960120"/>
            <a:ext cx="1664208" cy="320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68112" y="978408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</a:rPr>
              <a:t>MOD 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68112" y="1325880"/>
            <a:ext cx="16642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5541264" y="1828800"/>
            <a:ext cx="1517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Digital Citizenship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016752" y="2423160"/>
            <a:ext cx="566928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59552" y="254203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Online tone &amp; posting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559552" y="28346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Digital permanence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559552" y="3127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Reputation management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559552" y="34198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Privacy &amp; boundaries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260336" y="960120"/>
            <a:ext cx="1664208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260336" y="960120"/>
            <a:ext cx="1664208" cy="320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260336" y="978408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</a:rPr>
              <a:t>MOD 05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260336" y="1325880"/>
            <a:ext cx="16642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🌱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7333488" y="1828800"/>
            <a:ext cx="1517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Personal Growth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7808976" y="2423160"/>
            <a:ext cx="566928" cy="36576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51776" y="254203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Goal setting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351776" y="28346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Self-assessment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351776" y="3127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Integrity &amp; follow-through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351776" y="34198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Capstone project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STUDENT-FACING THINKING TOOLS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The Two Core Frameworks — Know These Cold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023360" cy="38404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00584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🧘  Regulation Routine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146304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</a:rPr>
              <a:t>Self-regulation under stress — used BEFORE decision-making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11480" y="1965960"/>
            <a:ext cx="457200" cy="5029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984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E35"/>
                </a:solidFill>
              </a:rPr>
              <a:t>P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201168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B84B"/>
                </a:solidFill>
              </a:rPr>
              <a:t>PAUSE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221284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Stop the automatic reaction. Create space.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624328"/>
            <a:ext cx="457200" cy="5029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6426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E35"/>
                </a:solidFill>
              </a:rPr>
              <a:t>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60120" y="267004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B84B"/>
                </a:solidFill>
              </a:rPr>
              <a:t>LABEL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87121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Name the emotion. What am I actually feeling?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282696"/>
            <a:ext cx="457200" cy="5029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3009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E35"/>
                </a:solidFill>
              </a:rPr>
              <a:t>R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60120" y="332841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B84B"/>
                </a:solidFill>
              </a:rPr>
              <a:t>REFRAME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352958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Shift perspective. What is actually happening?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3941064"/>
            <a:ext cx="457200" cy="50292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959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E35"/>
                </a:solidFill>
              </a:rPr>
              <a:t>R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60120" y="3986784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B84B"/>
                </a:solidFill>
              </a:rPr>
              <a:t>RESPOND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418795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Choose deliberately — aligned with values.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960120"/>
            <a:ext cx="4023360" cy="3840480"/>
          </a:xfrm>
          <a:prstGeom prst="rect">
            <a:avLst/>
          </a:prstGeom>
          <a:solidFill>
            <a:srgbClr val="111E35"/>
          </a:solidFill>
          <a:ln w="12700">
            <a:solidFill>
              <a:srgbClr val="C89B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⚖️  Decision-Making Framework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846320" y="146304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E5E7EB"/>
                </a:solidFill>
              </a:rPr>
              <a:t>Structured choice-making under pressure &amp; competing priorities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92040" y="1965960"/>
            <a:ext cx="457200" cy="50292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92040" y="1984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E35"/>
                </a:solidFill>
              </a:rPr>
              <a:t>P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440680" y="201168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9B3C"/>
                </a:solidFill>
              </a:rPr>
              <a:t>PAUSE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40680" y="221284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Regulate first. Good decisions require cognitive space.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892040" y="2624328"/>
            <a:ext cx="457200" cy="50292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92040" y="26426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E35"/>
                </a:solidFill>
              </a:rPr>
              <a:t>O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5440680" y="267004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9B3C"/>
                </a:solidFill>
              </a:rPr>
              <a:t>OPTIONS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440680" y="287121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Identify multiple possible responses.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92040" y="3282696"/>
            <a:ext cx="457200" cy="50292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3009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E35"/>
                </a:solidFill>
              </a:rPr>
              <a:t>C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5440680" y="3328416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9B3C"/>
                </a:solidFill>
              </a:rPr>
              <a:t>CONSEQUENCES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40680" y="352958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Evaluate short and long-term outcomes.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892040" y="3941064"/>
            <a:ext cx="457200" cy="50292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92040" y="3959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E35"/>
                </a:solidFill>
              </a:rPr>
              <a:t>C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5440680" y="398678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9B3C"/>
                </a:solidFill>
              </a:rPr>
              <a:t>CHOOSE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440680" y="418795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</a:rPr>
              <a:t>Select a response and justify it. Explain the reasoning.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</a:rPr>
              <a:t>WHO YOU WILL TEACH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Four Implementation Tracks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82880" y="960120"/>
            <a:ext cx="205740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960120"/>
            <a:ext cx="2057400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978408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🏫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56032" y="1508760"/>
            <a:ext cx="19110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E35"/>
                </a:solidFill>
              </a:rPr>
              <a:t>Grades 7–8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56032" y="2011680"/>
            <a:ext cx="19110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B2A4A"/>
                </a:solidFill>
              </a:rPr>
              <a:t>Foundational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1B2A4A"/>
                </a:solidFill>
              </a:rPr>
              <a:t>Introductory Level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560320"/>
            <a:ext cx="777240" cy="3657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2608" y="2670048"/>
            <a:ext cx="183794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1 term per year. Core concepts introduced. Lower complexity scenarios. Building shared vocabulary.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404872" y="960120"/>
            <a:ext cx="205740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04872" y="960120"/>
            <a:ext cx="2057400" cy="5029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04872" y="978408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🎓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478024" y="1508760"/>
            <a:ext cx="19110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E35"/>
                </a:solidFill>
              </a:rPr>
              <a:t>Grades 9–12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478024" y="2011680"/>
            <a:ext cx="19110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D7377"/>
                </a:solidFill>
              </a:rPr>
              <a:t>Leveling Up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0D7377"/>
                </a:solidFill>
              </a:rPr>
              <a:t>Annually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44952" y="2560320"/>
            <a:ext cx="77724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14600" y="2670048"/>
            <a:ext cx="183794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1 term per year. Complexity increases each grade. Spiral design ensures no content repeated at same level.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26864" y="960120"/>
            <a:ext cx="205740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26864" y="960120"/>
            <a:ext cx="205740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26864" y="978408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👦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0016" y="1508760"/>
            <a:ext cx="19110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E35"/>
                </a:solidFill>
              </a:rPr>
              <a:t>Community Youth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00016" y="2011680"/>
            <a:ext cx="19110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C3AED"/>
                </a:solidFill>
              </a:rPr>
              <a:t>Outside School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7C3AED"/>
                </a:solidFill>
              </a:rPr>
              <a:t>Youth Program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266944" y="2560320"/>
            <a:ext cx="77724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36592" y="2670048"/>
            <a:ext cx="183794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Flexible delivery. Cohort-based. Adapts MMMF for community centers, faith orgs, and youth programs.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848856" y="960120"/>
            <a:ext cx="205740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48856" y="960120"/>
            <a:ext cx="2057400" cy="5029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48856" y="978408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922008" y="1508760"/>
            <a:ext cx="19110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E35"/>
                </a:solidFill>
              </a:rPr>
              <a:t>Community Adult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922008" y="2011680"/>
            <a:ext cx="19110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0392B"/>
                </a:solidFill>
              </a:rPr>
              <a:t>Outside School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C0392B"/>
                </a:solidFill>
              </a:rPr>
              <a:t>Adult Program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488936" y="2560320"/>
            <a:ext cx="777240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58584" y="2670048"/>
            <a:ext cx="183794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Workplace, family, and personal growth contexts. Same frameworks, adult-relevant scenarios.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CURRICULUM STRUCTURE · BRUNER (1960)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Spiral Design — How It Builds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2560320" cy="2468880"/>
          </a:xfrm>
          <a:prstGeom prst="rect">
            <a:avLst/>
          </a:prstGeom>
          <a:solidFill>
            <a:srgbClr val="1E3A5F"/>
          </a:solidFill>
          <a:ln w="12700">
            <a:solidFill>
              <a:srgbClr val="0D73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05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</a:rPr>
              <a:t>Weeks 1–2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14173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INSTRUCTION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5E7EB"/>
                </a:solidFill>
              </a:rPr>
              <a:t>Mini-lessons, case studies, graphic organizers, instructor modeling. Shared vocabulary.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0" y="960120"/>
            <a:ext cx="2560320" cy="2468880"/>
          </a:xfrm>
          <a:prstGeom prst="rect">
            <a:avLst/>
          </a:prstGeom>
          <a:solidFill>
            <a:srgbClr val="1E3A5F"/>
          </a:solidFill>
          <a:ln w="12700">
            <a:solidFill>
              <a:srgbClr val="C89B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00400" y="1005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B3C"/>
                </a:solidFill>
              </a:rPr>
              <a:t>Week 3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0" y="14173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SIMULATION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ROLE-PLAY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91840" y="214884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5E7EB"/>
                </a:solidFill>
              </a:rPr>
              <a:t>Apply skills in structured practice. Scenario prompts build fluency before independent use.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960120"/>
            <a:ext cx="2560320" cy="2468880"/>
          </a:xfrm>
          <a:prstGeom prst="rect">
            <a:avLst/>
          </a:prstGeom>
          <a:solidFill>
            <a:srgbClr val="1E3A5F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005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</a:rPr>
              <a:t>Week 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035040" y="141732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COLLABORATIVE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126480" y="214884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5E7EB"/>
                </a:solidFill>
              </a:rPr>
              <a:t>Team-based tasks + reflection journals. Connects experience to concept.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971800" y="2148840"/>
            <a:ext cx="164592" cy="45720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06440" y="2148840"/>
            <a:ext cx="164592" cy="45720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3611880"/>
            <a:ext cx="8412480" cy="11887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All Four Pillars Revisited Every Cycle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Respect, regulation, decision-making, and accountability reappear in every module at increasing levels of complexity — exactly as Bruner's spiral model intended. This is not repetition; it is mastery by design.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ASSESSMENT FRAMEWORK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Learning Is Measured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82880" y="1005840"/>
            <a:ext cx="2011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1005840"/>
            <a:ext cx="2011680" cy="3200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10515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</a:rPr>
              <a:t>FORMATIVE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82880" y="1371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74320" y="18745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Weekly Journals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95728" y="1005840"/>
            <a:ext cx="2011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395728" y="1005840"/>
            <a:ext cx="2011680" cy="3200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95728" y="10515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</a:rPr>
              <a:t>FORMATIVE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395728" y="1371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🗂️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487168" y="18745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Concept Sorting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08576" y="1005840"/>
            <a:ext cx="2011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08576" y="1005840"/>
            <a:ext cx="2011680" cy="3200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08576" y="10515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</a:rPr>
              <a:t>FORMATIVE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608576" y="1371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🎭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700016" y="18745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Role-Play Rubrics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21424" y="1005840"/>
            <a:ext cx="2011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21424" y="1005840"/>
            <a:ext cx="2011680" cy="3200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21424" y="10515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</a:rPr>
              <a:t>FORMATIVE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21424" y="1371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912864" y="18745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Pre/Post Surveys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82880" y="2971800"/>
            <a:ext cx="2011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82880" y="2971800"/>
            <a:ext cx="2011680" cy="32004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2880" y="301752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11E35"/>
                </a:solidFill>
              </a:rPr>
              <a:t>SUMMATIVE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82880" y="33375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🏆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274320" y="38404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"How I Handle It"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395728" y="2971800"/>
            <a:ext cx="2011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395728" y="2971800"/>
            <a:ext cx="2011680" cy="3200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95728" y="301752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</a:rPr>
              <a:t>SUMMATIVE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2395728" y="33375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2487168" y="38404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E35"/>
                </a:solidFill>
              </a:rPr>
              <a:t>Novel Scenario Task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D7377"/>
                </a:solidFill>
              </a:rPr>
              <a:t>DAY 1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Curriculum Overview &amp; Philosophy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969264"/>
            <a:ext cx="859536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987552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8:00–8:30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600200" y="9875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Welcome, Introductions &amp; Norms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60720" y="98755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Who is in the room — all tracks represented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426464"/>
            <a:ext cx="859536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444752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8:30–9:30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600200" y="14447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The Gap: Why MMMF Exists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760720" y="144475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Data, real-world context, Michael's story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1883664"/>
            <a:ext cx="859536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1901952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9:30–10:30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600200" y="19019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Theoretical Foundations Deep Dive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60720" y="190195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Tyler, Bruner, Dewey, CASEL, Stern et al.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2340864"/>
            <a:ext cx="8595360" cy="347472"/>
          </a:xfrm>
          <a:prstGeom prst="rect">
            <a:avLst/>
          </a:prstGeom>
          <a:solidFill>
            <a:srgbClr val="172B47"/>
          </a:solidFill>
          <a:ln w="12700">
            <a:solidFill>
              <a:srgbClr val="172B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359152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10:30–10:45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463040" y="235915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Break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798064"/>
            <a:ext cx="859536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816352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10:45–12:00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600200" y="28163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Four Core Pillars Walk-Through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60720" y="281635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Paired discussion: which pillar resonates most?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3255264"/>
            <a:ext cx="8595360" cy="347472"/>
          </a:xfrm>
          <a:prstGeom prst="rect">
            <a:avLst/>
          </a:prstGeom>
          <a:solidFill>
            <a:srgbClr val="172B47"/>
          </a:solidFill>
          <a:ln w="12700">
            <a:solidFill>
              <a:srgbClr val="172B4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273552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12:00–1:00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463040" y="327355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Lunch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3712464"/>
            <a:ext cx="859536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730752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1:00–2:30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600200" y="37307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Standards Alignment Workshop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760720" y="373075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Utah CASEL &amp; CCA Core Standards mapping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74320" y="4169664"/>
            <a:ext cx="859536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4187952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2:30–3:30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600200" y="41879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Track Differentiation Overview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760720" y="418795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Gr. 7–8 vs 9–12 vs Community — key differences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74320" y="4626864"/>
            <a:ext cx="859536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4645152"/>
            <a:ext cx="1234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3:30–4:00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600200" y="46451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1 Reflection &amp; Q&amp;A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760720" y="464515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Reflection prompt: What surprised you most?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DAY 2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Module-by-Module Deep Dive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969264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987552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8:00–8:15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600200" y="987552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1 Debrief &amp; Warm-Up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60720" y="98755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Quick pair share from yesterday's reflection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385316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403604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8:15–9:15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600200" y="1403604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1: Modern Manners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760720" y="1403604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Hands-on: practice greeting, cell phone, gratitude activities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1801368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1819656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9:15–10:15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600200" y="1819656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2: Emotional Intelligence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60720" y="181965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PLRR framework practice — in-role scenarios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2217420"/>
            <a:ext cx="8595360" cy="329184"/>
          </a:xfrm>
          <a:prstGeom prst="rect">
            <a:avLst/>
          </a:prstGeom>
          <a:solidFill>
            <a:srgbClr val="172B47"/>
          </a:solidFill>
          <a:ln w="12700">
            <a:solidFill>
              <a:srgbClr val="172B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23570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10:15–10:30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463040" y="22357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Break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633472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65176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10:30–11:30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600200" y="26517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3: Conflict Navigation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60720" y="265176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Live role-play with peer mediation debrief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3049524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067812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11:30–12:00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600200" y="3067812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4: Digital Citizenship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760720" y="306781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Digital permanence simulation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4320" y="3465576"/>
            <a:ext cx="8595360" cy="329184"/>
          </a:xfrm>
          <a:prstGeom prst="rect">
            <a:avLst/>
          </a:prstGeom>
          <a:solidFill>
            <a:srgbClr val="172B47"/>
          </a:solidFill>
          <a:ln w="12700">
            <a:solidFill>
              <a:srgbClr val="172B4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348386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12:00–1:00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463040" y="34838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Lunch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74320" y="3881628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3899916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1:00–2:00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600200" y="3899916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5: Personal Growth &amp; Capstone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760720" y="389991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Walk-through capstone design and rubric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74320" y="4297680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4315968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2:00–3:15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600200" y="4315968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Pacing &amp; Differentiation Workshop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760720" y="431596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Adapt each module for your specific track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74320" y="4713732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0040" y="473202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3:15–4:00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600200" y="47320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2 Reflection &amp; Planning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760720" y="473202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Begin your track-specific pacing plan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0392B"/>
                </a:solidFill>
              </a:rPr>
              <a:t>DAY 3 OF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Facilitation Practice &amp; Assessment Training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969264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987552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8:00–8:15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600200" y="987552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2 Debrief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60720" y="987552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Share your pacing plan draft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385316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403604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8:15–9:30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600200" y="1403604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Facilitation Micro-Teaching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760720" y="1403604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10-min teach-back each: feedback from peers + facilitator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1801368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1819656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9:30–10:30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600200" y="1819656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Scenario Simulation Lab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60720" y="181965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Live student scenarios — practice regulation &amp; decision frameworks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2217420"/>
            <a:ext cx="8595360" cy="329184"/>
          </a:xfrm>
          <a:prstGeom prst="rect">
            <a:avLst/>
          </a:prstGeom>
          <a:solidFill>
            <a:srgbClr val="172B47"/>
          </a:solidFill>
          <a:ln w="12700">
            <a:solidFill>
              <a:srgbClr val="172B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23570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10:30–10:45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463040" y="223570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Break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633472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65176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10:45–12:00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600200" y="26517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Assessment Deep Dive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60720" y="265176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Capstone rubric, novel scenario design, CASEL surveys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3049524"/>
            <a:ext cx="8595360" cy="329184"/>
          </a:xfrm>
          <a:prstGeom prst="rect">
            <a:avLst/>
          </a:prstGeom>
          <a:solidFill>
            <a:srgbClr val="172B47"/>
          </a:solidFill>
          <a:ln w="12700">
            <a:solidFill>
              <a:srgbClr val="172B4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06781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12:00–1:00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463040" y="306781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</a:rPr>
              <a:t>Lunch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3465576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483864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1:00–2:00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600200" y="3483864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Track-Specific Q&amp;A Roundtables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760720" y="3483864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Breakout by track: Gr 7–8 / 9–12 / Community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74320" y="3881628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3899916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2:00–3:00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600200" y="3899916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Readiness Self-Assessment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760720" y="389991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Complete Teacher Readiness Checklist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74320" y="4297680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4315968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3:00–3:45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600200" y="4315968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Certification &amp; Commitment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760720" y="4315968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MMMF Licensed Facilitator — sign &amp; receive materials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74320" y="4713732"/>
            <a:ext cx="8595360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0040" y="473202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B3C"/>
                </a:solidFill>
              </a:rPr>
              <a:t>3:45–4:00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600200" y="47320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Closing Reflection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760720" y="473202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7EB"/>
                </a:solidFill>
              </a:rPr>
              <a:t>What will you do differently in your classroom next week?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SUMMATIVE RUBRIC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Capstone: "How I Handle It"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1920240" cy="411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87552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Criteria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240280" y="960120"/>
            <a:ext cx="2286000" cy="41148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98755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Exceeds (10)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960120"/>
            <a:ext cx="2011680" cy="411480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9875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E35"/>
                </a:solidFill>
              </a:rPr>
              <a:t>Meets (8)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629400" y="960120"/>
            <a:ext cx="2286000" cy="4114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98755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Needs Improvement (5)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1444752"/>
            <a:ext cx="19202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" y="1490472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E35"/>
                </a:solidFill>
              </a:rPr>
              <a:t>Clarity of Scenario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40280" y="1444752"/>
            <a:ext cx="22860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04288" y="1490472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Clear, relatable, real-world grounded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0" y="1444752"/>
            <a:ext cx="20116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36008" y="1490472"/>
            <a:ext cx="18836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Relevant &amp; understandable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29400" y="1444752"/>
            <a:ext cx="22860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93408" y="1490472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Unclear or vague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2112264"/>
            <a:ext cx="1920240" cy="603504"/>
          </a:xfrm>
          <a:prstGeom prst="rect">
            <a:avLst/>
          </a:prstGeom>
          <a:solidFill>
            <a:srgbClr val="F0EEF8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" y="2157984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E35"/>
                </a:solidFill>
              </a:rPr>
              <a:t>Application of Strategies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40280" y="2112264"/>
            <a:ext cx="2286000" cy="603504"/>
          </a:xfrm>
          <a:prstGeom prst="rect">
            <a:avLst/>
          </a:prstGeom>
          <a:solidFill>
            <a:srgbClr val="F0EEF8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04288" y="2157984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Mastery with nuanced, layered application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0" y="2112264"/>
            <a:ext cx="2011680" cy="603504"/>
          </a:xfrm>
          <a:prstGeom prst="rect">
            <a:avLst/>
          </a:prstGeom>
          <a:solidFill>
            <a:srgbClr val="F0EEF8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36008" y="2157984"/>
            <a:ext cx="18836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Applies most tools correctly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629400" y="2112264"/>
            <a:ext cx="2286000" cy="603504"/>
          </a:xfrm>
          <a:prstGeom prst="rect">
            <a:avLst/>
          </a:prstGeom>
          <a:solidFill>
            <a:srgbClr val="F0EEF8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93408" y="2157984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Few or incorrect applications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4320" y="2779776"/>
            <a:ext cx="19202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2825496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E35"/>
                </a:solidFill>
              </a:rPr>
              <a:t>Self-Reflection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240280" y="2779776"/>
            <a:ext cx="22860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04288" y="2825496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Insightful, honest, genuine growth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0" y="2779776"/>
            <a:ext cx="20116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36008" y="2825496"/>
            <a:ext cx="18836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Basic reflection shown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629400" y="2779776"/>
            <a:ext cx="22860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93408" y="2825496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Minimal or shallow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74320" y="3447288"/>
            <a:ext cx="1920240" cy="603504"/>
          </a:xfrm>
          <a:prstGeom prst="rect">
            <a:avLst/>
          </a:prstGeom>
          <a:solidFill>
            <a:srgbClr val="F0EEF8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8328" y="3493008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E35"/>
                </a:solidFill>
              </a:rPr>
              <a:t>Delivery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240280" y="3447288"/>
            <a:ext cx="2286000" cy="603504"/>
          </a:xfrm>
          <a:prstGeom prst="rect">
            <a:avLst/>
          </a:prstGeom>
          <a:solidFill>
            <a:srgbClr val="F0EEF8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04288" y="3493008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Confident, clear, engaging throughout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0" y="3447288"/>
            <a:ext cx="2011680" cy="603504"/>
          </a:xfrm>
          <a:prstGeom prst="rect">
            <a:avLst/>
          </a:prstGeom>
          <a:solidFill>
            <a:srgbClr val="F0EEF8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36008" y="3493008"/>
            <a:ext cx="18836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Clear with minor issues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629400" y="3447288"/>
            <a:ext cx="2286000" cy="603504"/>
          </a:xfrm>
          <a:prstGeom prst="rect">
            <a:avLst/>
          </a:prstGeom>
          <a:solidFill>
            <a:srgbClr val="F0EEF8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93408" y="3493008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Unclear or hard to follow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74320" y="4114800"/>
            <a:ext cx="19202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8328" y="4160520"/>
            <a:ext cx="17922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E35"/>
                </a:solidFill>
              </a:rPr>
              <a:t>Visual/Support Materials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2240280" y="4114800"/>
            <a:ext cx="22860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04288" y="4160520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Effective, polished, enhances presentation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114800"/>
            <a:ext cx="20116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36008" y="4160520"/>
            <a:ext cx="18836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Basic visuals included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629400" y="4114800"/>
            <a:ext cx="22860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93408" y="4160520"/>
            <a:ext cx="21579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E35"/>
                </a:solidFill>
              </a:rPr>
              <a:t>Missing or ineffective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E35"/>
          </a:solidFill>
          <a:ln w="12700">
            <a:solidFill>
              <a:srgbClr val="111E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914400" y="-914400"/>
            <a:ext cx="4572000" cy="457200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2743200"/>
            <a:ext cx="3657600" cy="3657600"/>
          </a:xfrm>
          <a:prstGeom prst="ellipse">
            <a:avLst/>
          </a:prstGeom>
          <a:solidFill>
            <a:srgbClr val="0D3B5E"/>
          </a:solidFill>
          <a:ln w="12700">
            <a:solidFill>
              <a:srgbClr val="0D3B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C89B3C"/>
                </a:solidFill>
              </a:rPr>
              <a:t>READY FOR REAL LIFE INSTRUCTION AND EDUCATION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105156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Are Ready</a:t>
            </a:r>
            <a:endParaRPr lang="en-US" sz="4200" dirty="0"/>
          </a:p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Teach This.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3474720" y="2606040"/>
            <a:ext cx="2194560" cy="54864"/>
          </a:xfrm>
          <a:prstGeom prst="rect">
            <a:avLst/>
          </a:prstGeom>
          <a:solidFill>
            <a:srgbClr val="C89B3C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7889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E5E7EB"/>
                </a:solidFill>
              </a:rPr>
              <a:t>"Transfer, not coverage. Students leave able to apply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E5E7EB"/>
                </a:solidFill>
              </a:rPr>
              <a:t>concepts independently to unfamiliar, high-stakes situations."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840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readyforreal.life  ·  Founders, Ready for Real Life Instruction and Education | MMMF LLC  ·  readyforreal.life44@gmail.com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4206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© Michael R. Terry. Protected intellectual property.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MMMF — Teach the Teacher Training</dc:title>
  <dc:subject>PptxGenJS Presentation</dc:subject>
  <dc:creator>Michael R. Terry</dc:creator>
  <cp:lastModifiedBy>Michael R. Terry</cp:lastModifiedBy>
  <cp:revision>1</cp:revision>
  <dcterms:created xsi:type="dcterms:W3CDTF">2026-03-20T15:28:01Z</dcterms:created>
  <dcterms:modified xsi:type="dcterms:W3CDTF">2026-03-20T15:28:01Z</dcterms:modified>
</cp:coreProperties>
</file>